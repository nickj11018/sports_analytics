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29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3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AFE21-35B4-4D64-81CA-5BDBEB94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3906A-268F-4C0E-9A6F-39AD513BC1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8159A-7D2E-4132-ABC0-9C47B95DF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5F935-543F-4F4E-890B-01B8E01C5EFD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B726AC-C119-4DC3-BEF4-5B9D9A2B6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1E424-D64E-4933-B778-549FE2670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C27D-9F72-4E6F-8C98-D289D69BD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024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1C3CF-7300-44D7-BF59-DF5AB41F2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4B08C-5D93-4E16-B5DF-054276781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E122A-A5B5-42EE-AFF8-02EE61946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5F935-543F-4F4E-890B-01B8E01C5EFD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A80C1-5ED0-49D0-9628-D35D74198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280BBA-556D-459F-82D8-A4941B614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C27D-9F72-4E6F-8C98-D289D69BD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704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84E14-1552-495E-960C-97CA15C83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CFDA5A-EBA5-4417-B075-03EA0935FB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80B81-6C51-4571-9457-F0231947D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5F935-543F-4F4E-890B-01B8E01C5EFD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2A383-A40A-4A1E-8DA6-87D7D1097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67E57-68D9-4E19-ACFA-DACFDE3DF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C27D-9F72-4E6F-8C98-D289D69BD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34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C7F3A-B9C1-45B3-8CE4-432CD967E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4DFCC-BBDD-474F-93C9-5F731F347E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1F4454-B555-4227-B26C-86D02F245B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0390A2-3DBE-4731-9A93-3B6C17AE0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5F935-543F-4F4E-890B-01B8E01C5EFD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0D911-AF0E-4047-A262-BF9E0E39A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F51F30-8636-4521-9A93-8A28F81DA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C27D-9F72-4E6F-8C98-D289D69BD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673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633E5-1CC7-4577-9ACE-D17F2C979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282277-AA6A-41D4-9735-A17E0CE5E9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A0101D-E9EB-4C52-B768-E125FBCA72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32CB59-B26A-4D01-B697-286CE97893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8FB844-B322-4D9B-9C36-3D4E1AE486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1641C3-A8CD-4BEF-ACD4-266F9FE58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5F935-543F-4F4E-890B-01B8E01C5EFD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430761-6E43-424B-9123-1849EE0D3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9BB8DB-531C-4CD2-80BD-3644C5F46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C27D-9F72-4E6F-8C98-D289D69BD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290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E5414-AD3D-4998-814B-BD22801BE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40C040-96AC-4C23-A76B-322A01FAC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5F935-543F-4F4E-890B-01B8E01C5EFD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C67AD2-6E8F-4AE0-8069-08FB28CCF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039918-984C-4205-B411-94A134B1D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C27D-9F72-4E6F-8C98-D289D69BD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596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BF1576-E5B0-43DD-B115-055997474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5F935-543F-4F4E-890B-01B8E01C5EFD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F18DFD-4CFF-4AD7-BCB8-D3EBA448F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8A1905-7210-4003-8AC5-80D0E756C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C27D-9F72-4E6F-8C98-D289D69BD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165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40F10-AB18-4EF8-8012-6AFDE6C4B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76302-0FC3-4810-AC9A-6FBCCE9D90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36F149-67AF-4463-A51B-99DCEDDEF1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152A46-43E0-490F-BADF-4FF414FD3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5F935-543F-4F4E-890B-01B8E01C5EFD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D84DB2-737B-4426-85BF-ED168E34C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A853F2-5836-43F5-8770-ED703EB95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C27D-9F72-4E6F-8C98-D289D69BD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160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6698D-C0AB-4490-916B-57D07CDF7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D0D2AC-29A1-4FE9-B7DA-B806ABA68E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EA1243-EA73-48EF-AE08-04E9C18476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220A9E-BB64-41C1-B0E3-787081CAC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5F935-543F-4F4E-890B-01B8E01C5EFD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4321AB-FDEB-452A-AE14-47EA94CCB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E3342A-7FDA-4E2F-A8E1-06A4FFD70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C27D-9F72-4E6F-8C98-D289D69BD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646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AAA89-8B2F-45E9-B3E1-C982AD855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8522B5-5A35-440C-A3E5-18EECA40FA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605249-3228-4E3C-9ED0-AF1B724FC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5F935-543F-4F4E-890B-01B8E01C5EFD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A9840-F86C-4B18-B97D-FB236DEA5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A75CD-E4BD-469D-A29C-2BD2E1551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C27D-9F72-4E6F-8C98-D289D69BD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792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4EDC08-CC16-4F3F-928F-7EF6DC00B0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74912B-8774-4AE0-B2CE-14DE548BB0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FEB1B-415B-44F9-A07A-1068B0888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5F935-543F-4F4E-890B-01B8E01C5EFD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70EA32-2AD8-434D-9B00-50978598F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9E3F8-DAAA-4721-8A8C-27F6D8FE8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C27D-9F72-4E6F-8C98-D289D69BD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313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CB7134-67E1-426B-9033-853A98928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D6E323-B0E5-45C4-A7BB-9EC610D55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F2D958-DC63-46DB-B1CF-5229F25A4D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5F935-543F-4F4E-890B-01B8E01C5EFD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94EA6-D2AE-44E0-AECA-F9C459D633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0E32F-46EB-43B8-AD15-5ECB5ED90E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1C27D-9F72-4E6F-8C98-D289D69BD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123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Table 5">
            <a:extLst>
              <a:ext uri="{FF2B5EF4-FFF2-40B4-BE49-F238E27FC236}">
                <a16:creationId xmlns:a16="http://schemas.microsoft.com/office/drawing/2014/main" id="{2AD7E2FA-CEF1-4A41-BBA3-A05400615E0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54128403"/>
              </p:ext>
            </p:extLst>
          </p:nvPr>
        </p:nvGraphicFramePr>
        <p:xfrm>
          <a:off x="0" y="2783836"/>
          <a:ext cx="1166812" cy="55981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6812">
                  <a:extLst>
                    <a:ext uri="{9D8B030D-6E8A-4147-A177-3AD203B41FA5}">
                      <a16:colId xmlns:a16="http://schemas.microsoft.com/office/drawing/2014/main" val="2072241449"/>
                    </a:ext>
                  </a:extLst>
                </a:gridCol>
              </a:tblGrid>
              <a:tr h="139954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Past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262258297"/>
                  </a:ext>
                </a:extLst>
              </a:tr>
              <a:tr h="139954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Players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1731675"/>
                  </a:ext>
                </a:extLst>
              </a:tr>
              <a:tr h="139954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Past Articles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4757005"/>
                  </a:ext>
                </a:extLst>
              </a:tr>
              <a:tr h="1399541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6216648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A0E698D-22CA-4021-AD95-089705FA2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71600"/>
          </a:xfrm>
          <a:solidFill>
            <a:srgbClr val="14293A"/>
          </a:solidFill>
        </p:spPr>
        <p:txBody>
          <a:bodyPr anchor="ctr">
            <a:normAutofit/>
          </a:bodyPr>
          <a:lstStyle/>
          <a:p>
            <a:pPr algn="ctr">
              <a:lnSpc>
                <a:spcPct val="0"/>
              </a:lnSpc>
            </a:pPr>
            <a:r>
              <a:rPr lang="en-US" sz="6600" normalizeH="1" dirty="0">
                <a:solidFill>
                  <a:schemeClr val="bg1"/>
                </a:solidFill>
                <a:latin typeface="Century Schoolbook" panose="02040604050505020304" pitchFamily="18" charset="0"/>
              </a:rPr>
              <a:t>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5B4BE10-FB9C-482D-A670-2A1882BB81C2}"/>
              </a:ext>
            </a:extLst>
          </p:cNvPr>
          <p:cNvSpPr txBox="1">
            <a:spLocks/>
          </p:cNvSpPr>
          <p:nvPr/>
        </p:nvSpPr>
        <p:spPr>
          <a:xfrm>
            <a:off x="0" y="494029"/>
            <a:ext cx="12192000" cy="13716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0"/>
              </a:lnSpc>
            </a:pPr>
            <a:r>
              <a:rPr lang="en-US" sz="6600" normalizeH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Week 12 Articles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54193F44-7A15-4963-A488-2BE4858F02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5459805"/>
              </p:ext>
            </p:extLst>
          </p:nvPr>
        </p:nvGraphicFramePr>
        <p:xfrm>
          <a:off x="0" y="-2"/>
          <a:ext cx="1166812" cy="55981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6812">
                  <a:extLst>
                    <a:ext uri="{9D8B030D-6E8A-4147-A177-3AD203B41FA5}">
                      <a16:colId xmlns:a16="http://schemas.microsoft.com/office/drawing/2014/main" val="2072241449"/>
                    </a:ext>
                  </a:extLst>
                </a:gridCol>
              </a:tblGrid>
              <a:tr h="139954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Menu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29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2258297"/>
                  </a:ext>
                </a:extLst>
              </a:tr>
              <a:tr h="139954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Players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31731675"/>
                  </a:ext>
                </a:extLst>
              </a:tr>
              <a:tr h="139954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Teams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54757005"/>
                  </a:ext>
                </a:extLst>
              </a:tr>
              <a:tr h="139954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Rosters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26216648"/>
                  </a:ext>
                </a:extLst>
              </a:tr>
            </a:tbl>
          </a:graphicData>
        </a:graphic>
      </p:graphicFrame>
      <p:sp>
        <p:nvSpPr>
          <p:cNvPr id="41" name="Rectangle 40">
            <a:extLst>
              <a:ext uri="{FF2B5EF4-FFF2-40B4-BE49-F238E27FC236}">
                <a16:creationId xmlns:a16="http://schemas.microsoft.com/office/drawing/2014/main" id="{3D8E75E8-DF73-4025-ADB4-34AE9009B3EE}"/>
              </a:ext>
            </a:extLst>
          </p:cNvPr>
          <p:cNvSpPr/>
          <p:nvPr/>
        </p:nvSpPr>
        <p:spPr>
          <a:xfrm>
            <a:off x="4221890" y="5479358"/>
            <a:ext cx="7942367" cy="137864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9C12CC0-80BA-4A82-B21E-41F4E5756985}"/>
              </a:ext>
            </a:extLst>
          </p:cNvPr>
          <p:cNvSpPr/>
          <p:nvPr/>
        </p:nvSpPr>
        <p:spPr>
          <a:xfrm>
            <a:off x="4249632" y="3651395"/>
            <a:ext cx="7925688" cy="130629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B69086B-0DB6-4D84-A507-78DB06C2536B}"/>
              </a:ext>
            </a:extLst>
          </p:cNvPr>
          <p:cNvSpPr/>
          <p:nvPr/>
        </p:nvSpPr>
        <p:spPr>
          <a:xfrm>
            <a:off x="3708400" y="1503680"/>
            <a:ext cx="8788400" cy="577087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2E0DCCA-AEC4-42ED-A006-685685A4279C}"/>
              </a:ext>
            </a:extLst>
          </p:cNvPr>
          <p:cNvGrpSpPr/>
          <p:nvPr/>
        </p:nvGrpSpPr>
        <p:grpSpPr>
          <a:xfrm>
            <a:off x="1171760" y="1371600"/>
            <a:ext cx="3061847" cy="1787231"/>
            <a:chOff x="1701090" y="1575753"/>
            <a:chExt cx="3029861" cy="278701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88150CA-4BA3-4781-987F-B703C3FD283B}"/>
                </a:ext>
              </a:extLst>
            </p:cNvPr>
            <p:cNvSpPr/>
            <p:nvPr/>
          </p:nvSpPr>
          <p:spPr>
            <a:xfrm>
              <a:off x="1701090" y="1575753"/>
              <a:ext cx="3026504" cy="2787015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BAE0C05-6E2F-459D-A785-94DF446741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04446" y="1896745"/>
              <a:ext cx="3026505" cy="2096135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444CA20-9B4B-40D1-9F48-5A02047097F0}"/>
              </a:ext>
            </a:extLst>
          </p:cNvPr>
          <p:cNvGrpSpPr/>
          <p:nvPr/>
        </p:nvGrpSpPr>
        <p:grpSpPr>
          <a:xfrm>
            <a:off x="1166812" y="3158831"/>
            <a:ext cx="3061847" cy="1787231"/>
            <a:chOff x="5003090" y="1921193"/>
            <a:chExt cx="3029861" cy="278701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A5C4C6A-84AC-4B4A-B2D0-64162B19C735}"/>
                </a:ext>
              </a:extLst>
            </p:cNvPr>
            <p:cNvSpPr/>
            <p:nvPr/>
          </p:nvSpPr>
          <p:spPr>
            <a:xfrm>
              <a:off x="5003090" y="1921193"/>
              <a:ext cx="3026504" cy="2787015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F750567-9BE9-4B82-8E6B-0A7791B896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03090" y="2478563"/>
              <a:ext cx="3029861" cy="1696722"/>
            </a:xfrm>
            <a:prstGeom prst="rect">
              <a:avLst/>
            </a:prstGeom>
          </p:spPr>
        </p:pic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D1755B19-52EE-4D15-9151-DF35430AB04A}"/>
              </a:ext>
            </a:extLst>
          </p:cNvPr>
          <p:cNvSpPr txBox="1"/>
          <p:nvPr/>
        </p:nvSpPr>
        <p:spPr>
          <a:xfrm>
            <a:off x="4236411" y="3669765"/>
            <a:ext cx="7938908" cy="1200329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Which team is most likely to relocate this offseason? Who should? Find out which cities </a:t>
            </a:r>
            <a:r>
              <a:rPr lang="en-US"/>
              <a:t>we find are </a:t>
            </a:r>
            <a:r>
              <a:rPr lang="en-US" dirty="0"/>
              <a:t>safest and which we think would benefit most!</a:t>
            </a:r>
          </a:p>
          <a:p>
            <a:endParaRPr lang="en-US" dirty="0"/>
          </a:p>
          <a:p>
            <a:r>
              <a:rPr lang="en-US" dirty="0"/>
              <a:t>Authors: Bronsin Jabraeili, Marco Khalil, Nicholas Johnson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07A570-40B6-450C-81BE-14B7A68AF5E1}"/>
              </a:ext>
            </a:extLst>
          </p:cNvPr>
          <p:cNvSpPr txBox="1"/>
          <p:nvPr/>
        </p:nvSpPr>
        <p:spPr>
          <a:xfrm>
            <a:off x="4222792" y="3151545"/>
            <a:ext cx="8263848" cy="461665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Make the Move: Relocation Analysis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D8F73EF-984A-4625-A89A-73D12A3C6CA5}"/>
              </a:ext>
            </a:extLst>
          </p:cNvPr>
          <p:cNvSpPr/>
          <p:nvPr/>
        </p:nvSpPr>
        <p:spPr>
          <a:xfrm>
            <a:off x="1177330" y="4957688"/>
            <a:ext cx="3044559" cy="189006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5324C48-6815-4957-92E5-B37FB7A89C87}"/>
              </a:ext>
            </a:extLst>
          </p:cNvPr>
          <p:cNvSpPr txBox="1"/>
          <p:nvPr/>
        </p:nvSpPr>
        <p:spPr>
          <a:xfrm>
            <a:off x="4251360" y="5479358"/>
            <a:ext cx="7938908" cy="1200329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How are the Eagles getting away with this Tush Push? Let’s look at the average yards for QB sneaks and the average yards for Jalen </a:t>
            </a:r>
            <a:r>
              <a:rPr lang="en-US" dirty="0" err="1"/>
              <a:t>Hurts’s</a:t>
            </a:r>
            <a:r>
              <a:rPr lang="en-US" dirty="0"/>
              <a:t> touchdowns.</a:t>
            </a:r>
          </a:p>
          <a:p>
            <a:endParaRPr lang="en-US" dirty="0"/>
          </a:p>
          <a:p>
            <a:r>
              <a:rPr lang="en-US" dirty="0"/>
              <a:t>Authors: </a:t>
            </a:r>
            <a:r>
              <a:rPr lang="en-US" dirty="0" err="1"/>
              <a:t>D’andre</a:t>
            </a:r>
            <a:r>
              <a:rPr lang="en-US" dirty="0"/>
              <a:t> Brown, Kenneth Smith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2436EBB-E8EF-4219-938F-42C778237E92}"/>
              </a:ext>
            </a:extLst>
          </p:cNvPr>
          <p:cNvSpPr txBox="1"/>
          <p:nvPr/>
        </p:nvSpPr>
        <p:spPr>
          <a:xfrm>
            <a:off x="4219152" y="4948673"/>
            <a:ext cx="8460528" cy="461665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Push Eagles, Push?: QB Sneak Analysis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6FD2A2-3C3E-48E8-8665-706649B2EE95}"/>
              </a:ext>
            </a:extLst>
          </p:cNvPr>
          <p:cNvSpPr txBox="1"/>
          <p:nvPr/>
        </p:nvSpPr>
        <p:spPr>
          <a:xfrm>
            <a:off x="4236410" y="1773985"/>
            <a:ext cx="7927847" cy="1200329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Let’s dive into the rushing rates around the NFL and how that relates to win percentage. Fantasy football implications abound!</a:t>
            </a:r>
          </a:p>
          <a:p>
            <a:endParaRPr lang="en-US" dirty="0"/>
          </a:p>
          <a:p>
            <a:r>
              <a:rPr lang="en-US" dirty="0"/>
              <a:t>Authors: Austin Herbert, Keenan Everett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CE57E3-838B-4A1D-9E99-88DAAEC43353}"/>
              </a:ext>
            </a:extLst>
          </p:cNvPr>
          <p:cNvSpPr txBox="1"/>
          <p:nvPr/>
        </p:nvSpPr>
        <p:spPr>
          <a:xfrm>
            <a:off x="4221889" y="1370425"/>
            <a:ext cx="7963590" cy="461665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Run Downhill: Rushing Rate Analysis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5EEC7FBE-AA98-47A4-A04D-FF117D6F10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283" y="5055068"/>
            <a:ext cx="3020118" cy="169530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300CB0E-0B6A-4C21-8264-EA91354249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48464" y="14888"/>
            <a:ext cx="1646009" cy="1355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971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874</TotalTime>
  <Words>136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Century Schoolbook</vt:lpstr>
      <vt:lpstr>Copperplate Gothic Bold</vt:lpstr>
      <vt:lpstr>Office Theme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Johnson, Nicholas</dc:creator>
  <cp:lastModifiedBy>Nicholas</cp:lastModifiedBy>
  <cp:revision>15</cp:revision>
  <dcterms:created xsi:type="dcterms:W3CDTF">2023-11-27T05:26:53Z</dcterms:created>
  <dcterms:modified xsi:type="dcterms:W3CDTF">2023-11-28T02:57:30Z</dcterms:modified>
</cp:coreProperties>
</file>